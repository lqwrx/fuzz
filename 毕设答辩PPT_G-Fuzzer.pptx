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西安理工大学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基于生成对抗网络的网络协议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spc="2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模糊测试系统设计与实现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Implementation of Network Protocol Fuzzing System Based on GAN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2743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    业：网络工程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    生：李欣宇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指导教师：姜  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en-US" sz="14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457200" cy="45720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005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371600" y="2286000"/>
            <a:ext cx="457200" cy="45720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技术基础介绍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2926080"/>
            <a:ext cx="457200" cy="45720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系统设计与实现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371600" y="3566160"/>
            <a:ext cx="457200" cy="45720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实验结果与分析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4206240"/>
            <a:ext cx="457200" cy="45720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0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546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3200" dirty="0"/>
          </a:p>
        </p:txBody>
      </p:sp>
      <p:sp>
        <p:nvSpPr>
          <p:cNvPr id="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网络协议是信息系统的通信基石</a:t>
            </a:r>
            <a:endParaRPr lang="en-US" sz="1800" dirty="0"/>
          </a:p>
          <a:p>
            <a:r>
              <a:rPr lang="en-US" sz="18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协议实现漏洞可能导致服务中断、数据泄露等严重后果</a:t>
            </a:r>
            <a:endParaRPr lang="en-US" sz="1800" dirty="0"/>
          </a:p>
          <a:p>
            <a:r>
              <a:rPr lang="en-US" sz="18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典型案例：震网病毒、乌克兰电网攻击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645920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传统模糊测试面临的挑战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依赖协议规范文档，私有协议难以适用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随机变异破坏协议字段，无法到达深层逻辑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测试用例生成盲目，效率低下</a:t>
            </a:r>
            <a:endParaRPr lang="en-US" sz="14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200400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理论意义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探索GAN在离散序列生成中的应用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验证SeqGAN框架在协议模糊测试中的可行性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为协议安全测试提供新的技术思路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200400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实践意义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实现不依赖协议规范的自动化测试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提高测试用例的语法正确性与多样性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为工控协议安全测试提供工具支持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546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3200" dirty="0"/>
          </a:p>
        </p:txBody>
      </p:sp>
      <p:sp>
        <p:nvSpPr>
          <p:cNvPr id="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传统协议模糊测试方法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365760"/>
          </a:xfrm>
          <a:prstGeom prst="roundRect">
            <a:avLst/>
          </a:prstGeom>
          <a:solidFill>
            <a:srgbClr val="2D8B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Fuzz Generator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914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首个模糊测试工具，随机输入测试Unix程序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914400" cy="365760"/>
          </a:xfrm>
          <a:prstGeom prst="roundRect">
            <a:avLst/>
          </a:prstGeom>
          <a:solidFill>
            <a:srgbClr val="2D8B8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SPIKE/Peach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基于块结构的变异，需人工编写协议模板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914400" cy="365760"/>
          </a:xfrm>
          <a:prstGeom prst="roundRect">
            <a:avLst/>
          </a:prstGeom>
          <a:solidFill>
            <a:srgbClr val="2D8B8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编译时插桩+覆盖率反馈，进化式种子筛选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914400" cy="365760"/>
          </a:xfrm>
          <a:prstGeom prst="roundRect">
            <a:avLst/>
          </a:prstGeom>
          <a:solidFill>
            <a:srgbClr val="2D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Boofuzz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协议建模接口完善，仍需预先定义消息结构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9144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局限性：依赖人工分析、测试用例生成盲目、难以深入深层逻辑</a:t>
            </a:r>
            <a:endParaRPr lang="en-US" sz="1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基于深度学习的模糊测试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代表性工作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Learn&amp;Fuzz (微软研究院): seq2seq学习PDF结构，测试Edge浏览器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GANFuzz (华东师大, 2018): 首次将GAN应用于协议模糊测试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后续改进: WGAN-GP改善训练稳定性，Transformer提高生成质量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188720"/>
          </a:xfrm>
          <a:prstGeom prst="round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待解决问题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训练时间和对抗不稳定性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如何保证生成质量的前提下降低训练成本</a:t>
            </a:r>
            <a:endParaRPr lang="en-US" sz="14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546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技术基础介绍</a:t>
            </a:r>
            <a:endParaRPr lang="en-US" sz="3200" dirty="0"/>
          </a:p>
        </p:txBody>
      </p:sp>
      <p:sp>
        <p:nvSpPr>
          <p:cNvPr id="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ModbusTCP协议简介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Modbus是工业自动化领域的事实标准，广泛应用于工控系统、智能电表、楼宇自动化等场景。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MBAP报文头 (7字节)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事务标识符 | 协议标识符 | 长度 | 单元标识符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功能码 | 数据字段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常用功能码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读线圈状态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读保持寄存器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写单个线圈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0x10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写多个保持寄存器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生成对抗网络 (GAN) 与 SeqGAN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GAN核心思想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生成器G与判别器D通过对抗训练，拟合真实样本的潜在分布，合成高度相似的新数据。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4008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问题：原始GAN无法直接处理离散序列（梯度不可导）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SeqGAN解决方案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将序列生成建模为强化学习问题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生成器G作为智能体，判别器D作为奖励函数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通过策略梯度与蒙特卡洛搜索实现对抗训练</a:t>
            </a:r>
            <a:endParaRPr lang="en-US" sz="15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深度神经网络：LSTM 与 CNN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3200400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(生成器)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特殊的循环神经网络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三个门控机制：遗忘门、输入门、输出门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能够有选择地保留长期记忆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适用于序列生成任务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200400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(判别器)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多尺度卷积核设计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卷积核尺寸：2、3、4、5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捕捉不同长度的字节组合特征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输出真假二分类结果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546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系统设计与实现</a:t>
            </a:r>
            <a:endParaRPr lang="en-US" sz="3200" dirty="0"/>
          </a:p>
        </p:txBody>
      </p:sp>
      <p:sp>
        <p:nvSpPr>
          <p:cNvPr id="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097280"/>
          </a:xfrm>
          <a:prstGeom prst="roundRect">
            <a:avLst/>
          </a:prstGeom>
          <a:solidFill>
            <a:srgbClr val="2D8B8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消息捕获与分析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(MCAM)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pcap提取/模拟生成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097280"/>
          </a:xfrm>
          <a:prstGeom prst="roundRect">
            <a:avLst/>
          </a:prstGeom>
          <a:solidFill>
            <a:srgbClr val="2D8B8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预处理与聚类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(MPM)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数据清洗/三种聚类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2560320" cy="109728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训练与生成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(TMGM)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SeqGAN训练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2560320" cy="1097280"/>
          </a:xfrm>
          <a:prstGeom prst="roundRect">
            <a:avLst/>
          </a:prstGeom>
          <a:solidFill>
            <a:srgbClr val="2D8B8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消息发送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(MSM)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TCP连接发送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194560"/>
            <a:ext cx="2560320" cy="1097280"/>
          </a:xfrm>
          <a:prstGeom prst="roundRect">
            <a:avLst/>
          </a:prstGeom>
          <a:solidFill>
            <a:srgbClr val="2D8B8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监控模块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(MM)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194560"/>
            <a:ext cx="2560320" cy="109728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日志模块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(LM)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结果记录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1371600"/>
            <a:ext cx="365760" cy="182880"/>
          </a:xfrm>
          <a:prstGeom prst="rightArrow">
            <a:avLst/>
          </a:prstGeom>
          <a:solidFill>
            <a:srgbClr val="2D8B8B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1371600"/>
            <a:ext cx="365760" cy="182880"/>
          </a:xfrm>
          <a:prstGeom prst="rightArrow">
            <a:avLst/>
          </a:prstGeom>
          <a:solidFill>
            <a:srgbClr val="2D8B8B"/>
          </a:solidFill>
          <a:ln/>
        </p:spPr>
      </p:sp>
      <p:sp>
        <p:nvSpPr>
          <p:cNvPr id="25" name="Shape 23"/>
          <p:cNvSpPr/>
          <p:nvPr/>
        </p:nvSpPr>
        <p:spPr>
          <a:xfrm>
            <a:off x="3017520" y="2651760"/>
            <a:ext cx="365760" cy="182880"/>
          </a:xfrm>
          <a:prstGeom prst="rightArrow">
            <a:avLst/>
          </a:prstGeom>
          <a:solidFill>
            <a:srgbClr val="2D8B8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2651760"/>
            <a:ext cx="365760" cy="182880"/>
          </a:xfrm>
          <a:prstGeom prst="rightArrow">
            <a:avLst/>
          </a:prstGeom>
          <a:solidFill>
            <a:srgbClr val="2D8B8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闭环反馈机制：异常用例 → 微调生成器 → 重新测试</a:t>
            </a:r>
            <a:endParaRPr lang="en-US" sz="14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数据预处理与聚类策略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数据来源：真实pcap提取 7134条 + 模拟生成 15000条 ≈ 22000条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三种聚类策略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560320" cy="1645920"/>
          </a:xfrm>
          <a:prstGeom prst="roundRect">
            <a:avLst/>
          </a:prstGeom>
          <a:solidFill>
            <a:srgbClr val="2D8B8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无聚类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所有消息作为一个整体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追求最大用例多样性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560320" cy="1645920"/>
          </a:xfrm>
          <a:prstGeom prst="roundRect">
            <a:avLst/>
          </a:prstGeom>
          <a:solidFill>
            <a:srgbClr val="2D8B8B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等长聚类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按消息长度分组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学习固定格式规则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828800"/>
            <a:ext cx="2560320" cy="1645920"/>
          </a:xfrm>
          <a:prstGeom prst="roundRect">
            <a:avLst/>
          </a:prstGeom>
          <a:solidFill>
            <a:srgbClr val="1A2332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高级聚类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k-means聚类(k=8)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功能相似消息归组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640080"/>
          </a:xfrm>
          <a:prstGeom prst="round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优势：在用例多样性与语法正确性之间取得平衡</a:t>
            </a:r>
            <a:endParaRPr lang="en-US" sz="14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SeqGAN训练流程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" cy="54864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预训练生成器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教师强制方式，学习基本格式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914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0" cy="54864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预训练判别器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真假样本分类训练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对抗训练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交替更新，蒙特卡洛搜索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批大小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预训练学习率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对抗训练学习率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蒙特卡洛搜索次数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最大序列长度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64字节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闭环反馈机制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0" cy="73152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生成测试用例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1371600"/>
            <a:ext cx="548640" cy="182880"/>
          </a:xfrm>
          <a:prstGeom prst="rightArrow">
            <a:avLst/>
          </a:prstGeom>
          <a:solidFill>
            <a:srgbClr val="A8DADC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097280"/>
            <a:ext cx="731520" cy="73152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发送至目标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371600"/>
            <a:ext cx="548640" cy="182880"/>
          </a:xfrm>
          <a:prstGeom prst="rightArrow">
            <a:avLst/>
          </a:prstGeom>
          <a:solidFill>
            <a:srgbClr val="A8DAD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097280"/>
            <a:ext cx="731520" cy="73152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监控异常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548640" cy="182880"/>
          </a:xfrm>
          <a:prstGeom prst="rightArrow">
            <a:avLst/>
          </a:prstGeom>
          <a:solidFill>
            <a:srgbClr val="A8DAD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1097280"/>
            <a:ext cx="731520" cy="73152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提取异常用例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1371600"/>
            <a:ext cx="548640" cy="182880"/>
          </a:xfrm>
          <a:prstGeom prst="rightArrow">
            <a:avLst/>
          </a:prstGeom>
          <a:solidFill>
            <a:srgbClr val="A8DAD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1097280"/>
            <a:ext cx="731520" cy="731520"/>
          </a:xfrm>
          <a:prstGeom prst="ellipse">
            <a:avLst/>
          </a:prstGeom>
          <a:solidFill>
            <a:srgbClr val="2D8B8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微调生成器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2377440"/>
            <a:ext cx="274320" cy="365760"/>
          </a:xfrm>
          <a:prstGeom prst="downArrow">
            <a:avLst/>
          </a:prstGeom>
          <a:solidFill>
            <a:srgbClr val="DD6B2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2926080"/>
            <a:ext cx="6858000" cy="137160"/>
          </a:xfrm>
          <a:prstGeom prst="leftArrow">
            <a:avLst/>
          </a:prstGeom>
          <a:solidFill>
            <a:srgbClr val="DD6B2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反馈机制优势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利用异常用例持续优化生成器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微调2-3个epoch即可见效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逐步提升异常触发能力</a:t>
            </a:r>
            <a:endParaRPr lang="en-US" sz="14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546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实验结果与分析</a:t>
            </a:r>
            <a:endParaRPr lang="en-US" sz="3200" dirty="0"/>
          </a:p>
        </p:txBody>
      </p:sp>
      <p:sp>
        <p:nvSpPr>
          <p:cNvPr id="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实验环境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硬件/软件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i7-1260P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Iris Xe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PyTorch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≥2.8.0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931920" cy="1097280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TIRR (测试输入拒绝率)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737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衡量生成用例的格式合规性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TIRR越低越好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468880"/>
            <a:ext cx="3931920" cy="1097280"/>
          </a:xfrm>
          <a:prstGeom prst="roundRect">
            <a:avLst/>
          </a:prstGeom>
          <a:solidFill>
            <a:srgbClr val="F0F7FA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AoVD (每百用例异常数)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29260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衡量漏洞挖掘能力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AoVD越高越好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测试目标：ModbusTCP从站模拟器 (127.0.0.1:502)</a:t>
            </a:r>
            <a:endParaRPr lang="en-US" sz="1400" dirty="0"/>
          </a:p>
        </p:txBody>
      </p:sp>
      <p:sp>
        <p:nvSpPr>
          <p:cNvPr id="2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实验结果对比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TIRR (%)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FAE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AoVD (%)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随机生成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随机变异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96.97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47.34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GAN (原始)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96.70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GAN (功能码过滤)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88.27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GAN (反馈微调)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74.30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3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23.46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8B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随机生成：所有用例被拒绝，完全不符合协议格式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GAN原始：格式接近变异方法，但异常触发能力弱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功能码过滤：TIRR从96.70%降至88.27%，格式更规范</a:t>
            </a:r>
            <a:endParaRPr lang="en-US" sz="1400" dirty="0"/>
          </a:p>
          <a:p>
            <a:r>
              <a:rPr lang="en-US" sz="14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反馈微调：TIRR降至74.30%，AoVD提升至23.46%</a:t>
            </a:r>
            <a:endParaRPr lang="en-US" sz="14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TIRR对比 (越低越好)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91840" cy="36576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随机: 100%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182112" cy="36576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9" name="Text 7"/>
          <p:cNvSpPr/>
          <p:nvPr/>
        </p:nvSpPr>
        <p:spPr>
          <a:xfrm>
            <a:off x="3822192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变异: 96.97%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441448" cy="365760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GAN: 74.3%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AoVD对比 (越高越好)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91440" cy="36576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随机: 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920240"/>
            <a:ext cx="3291840" cy="365760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变异: 47.34%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468880"/>
            <a:ext cx="1627632" cy="36576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18" name="Text 16"/>
          <p:cNvSpPr/>
          <p:nvPr/>
        </p:nvSpPr>
        <p:spPr>
          <a:xfrm>
            <a:off x="6839712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GAN: 23.46%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097280"/>
          </a:xfrm>
          <a:prstGeom prst="round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GAN方法在TIRR上优于传统方法，说明生成的测试用例格式更规范；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虽然AoVD低于随机变异，但考虑到更低的拒绝率，实际有效测试输入更多。</a:t>
            </a:r>
            <a:endParaRPr lang="en-US" sz="13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7447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D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75463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设计并实现了基于SeqGAN的网络协议模糊测试系统G-Fuzzer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提出三种聚类策略，平衡用例多样性与语法正确性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建立闭环反馈机制，持续优化生成器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实验验证了方法的有效性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8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不依赖协议规范，自动学习消息特征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三种聚类策略提升生成质量</a:t>
            </a:r>
            <a:endParaRPr lang="en-US" sz="1500" dirty="0"/>
          </a:p>
          <a:p>
            <a:r>
              <a:rPr lang="en-US" sz="15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闭环反馈实现迭代优化</a:t>
            </a:r>
            <a:endParaRPr lang="en-US" sz="15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spc="1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22860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现有不足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仅验证ModbusTCP协议</a:t>
            </a:r>
            <a:endParaRPr lang="en-US" sz="1300" dirty="0"/>
          </a:p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训练时间较长</a:t>
            </a:r>
            <a:endParaRPr lang="en-US" sz="1300" dirty="0"/>
          </a:p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AoVD仍低于随机变异</a:t>
            </a:r>
            <a:endParaRPr lang="en-US" sz="1300" dirty="0"/>
          </a:p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缺乏覆盖率反馈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286000"/>
          </a:xfrm>
          <a:prstGeom prst="round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扩展到更多协议类型</a:t>
            </a:r>
            <a:endParaRPr lang="en-US" sz="1300" dirty="0"/>
          </a:p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引入Transformer提升生成质量</a:t>
            </a:r>
            <a:endParaRPr lang="en-US" sz="1300" dirty="0"/>
          </a:p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结合AFL覆盖率反馈</a:t>
            </a:r>
            <a:endParaRPr lang="en-US" sz="1300" dirty="0"/>
          </a:p>
          <a:p>
            <a:r>
              <a:rPr lang="en-US" sz="1300" dirty="0">
                <a:solidFill>
                  <a:srgbClr val="1A2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优化训练效率</a:t>
            </a:r>
            <a:endParaRPr lang="en-US" sz="13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5735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  谢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743200" y="2571750"/>
            <a:ext cx="3657600" cy="2743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4607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感谢姜琨老师的悉心指导</a:t>
            </a:r>
            <a:endParaRPr lang="en-US" sz="1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A8DA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感谢各位答辩老师的宝贵时间</a:t>
            </a:r>
            <a:endParaRPr lang="en-US" sz="1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1455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1F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3028950"/>
            <a:ext cx="3657600" cy="27432"/>
          </a:xfrm>
          <a:prstGeom prst="rect">
            <a:avLst/>
          </a:prstGeom>
          <a:solidFill>
            <a:srgbClr val="2D8B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0327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DA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2026-05-10T08:54:38Z</dcterms:created>
  <dcterms:modified xsi:type="dcterms:W3CDTF">2026-05-10T08:54:38Z</dcterms:modified>
</cp:coreProperties>
</file>